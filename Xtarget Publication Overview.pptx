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9144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463040"/>
          </a:xfrm>
          <a:prstGeom prst="rect">
            <a:avLst/>
          </a:prstGeom>
          <a:solidFill>
            <a:srgbClr val="009B55">
              <a:alpha val="25000"/>
            </a:srgbClr>
          </a:solidFill>
          <a:ln w="12700">
            <a:solidFill>
              <a:srgbClr val="009B5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0"/>
            <a:ext cx="731520" cy="2926080"/>
          </a:xfrm>
          <a:prstGeom prst="rect">
            <a:avLst/>
          </a:prstGeom>
          <a:solidFill>
            <a:srgbClr val="006234">
              <a:alpha val="40000"/>
            </a:srgbClr>
          </a:solidFill>
          <a:ln w="12700">
            <a:solidFill>
              <a:srgbClr val="00623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TECHNOLOGY | PNL OPERATIONS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783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Xtarget &amp;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92608" y="2514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Overview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92608" y="3401568"/>
            <a:ext cx="4114800" cy="36576"/>
          </a:xfrm>
          <a:prstGeom prst="rect">
            <a:avLst/>
          </a:prstGeom>
          <a:solidFill>
            <a:srgbClr val="009B55"/>
          </a:solidFill>
          <a:ln w="12700">
            <a:solidFill>
              <a:srgbClr val="009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354787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PnL pipeline modernization — from control checks to stakeholder reporting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 |  The bank for a changing world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Xtarget &amp; Publication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658368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023360" cy="54864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4023360" cy="512064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869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&amp; 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219456" cy="21945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PnL?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892808"/>
            <a:ext cx="3566160" cy="0"/>
          </a:xfrm>
          <a:prstGeom prst="line">
            <a:avLst/>
          </a:prstGeom>
          <a:noFill/>
          <a:ln w="6350">
            <a:solidFill>
              <a:srgbClr val="E0E8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84832"/>
            <a:ext cx="219456" cy="21945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 XT?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566160" cy="0"/>
          </a:xfrm>
          <a:prstGeom prst="line">
            <a:avLst/>
          </a:prstGeom>
          <a:noFill/>
          <a:ln w="6350">
            <a:solidFill>
              <a:srgbClr val="E0E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7752"/>
            <a:ext cx="219456" cy="21945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3566160" cy="0"/>
          </a:xfrm>
          <a:prstGeom prst="line">
            <a:avLst/>
          </a:prstGeom>
          <a:noFill/>
          <a:ln w="6350">
            <a:solidFill>
              <a:srgbClr val="E0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90672"/>
            <a:ext cx="219456" cy="21945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Down Streams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86868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868680"/>
            <a:ext cx="4023360" cy="512064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8869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0" y="1581912"/>
            <a:ext cx="219456" cy="21945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508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0" y="1892808"/>
            <a:ext cx="3566160" cy="0"/>
          </a:xfrm>
          <a:prstGeom prst="line">
            <a:avLst/>
          </a:prstGeom>
          <a:noFill/>
          <a:ln w="6350">
            <a:solidFill>
              <a:srgbClr val="E0E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176272"/>
            <a:ext cx="219456" cy="21945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1031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Publication?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2487168"/>
            <a:ext cx="3566160" cy="0"/>
          </a:xfrm>
          <a:prstGeom prst="line">
            <a:avLst/>
          </a:prstGeom>
          <a:noFill/>
          <a:ln w="6350">
            <a:solidFill>
              <a:srgbClr val="E0E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2770632"/>
            <a:ext cx="219456" cy="21945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974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Down Streams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 |  The bank for a changing world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0972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Transformation &amp; Publication Features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658368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468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4688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46888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Obsolete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02536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025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Dependent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615184"/>
            <a:ext cx="246888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1518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2783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Manual Efforts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44368" y="2011680"/>
            <a:ext cx="548640" cy="548640"/>
          </a:xfrm>
          <a:prstGeom prst="chevron">
            <a:avLst/>
          </a:prstGeom>
          <a:solidFill>
            <a:srgbClr val="009B55"/>
          </a:solidFill>
          <a:ln w="12700">
            <a:solidFill>
              <a:srgbClr val="009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651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03320" y="82296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822960"/>
            <a:ext cx="2286000" cy="475488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8229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Benefits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03320" y="1389888"/>
            <a:ext cx="2286000" cy="530352"/>
          </a:xfrm>
          <a:prstGeom prst="rect">
            <a:avLst/>
          </a:prstGeom>
          <a:solidFill>
            <a:srgbClr val="F0FA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3898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Stack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03320" y="2002536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0025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 Dependent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2615184"/>
            <a:ext cx="2286000" cy="530352"/>
          </a:xfrm>
          <a:prstGeom prst="rect">
            <a:avLst/>
          </a:prstGeom>
          <a:solidFill>
            <a:srgbClr val="F0FA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6151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Intuitive UI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822960"/>
            <a:ext cx="2606040" cy="320040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822960"/>
            <a:ext cx="260604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87782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Features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1517904"/>
            <a:ext cx="146304" cy="146304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Portfolio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2029968"/>
            <a:ext cx="146304" cy="146304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9385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Adjustments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542032"/>
            <a:ext cx="146304" cy="146304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450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Ventures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55080" y="3054096"/>
            <a:ext cx="146304" cy="146304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3566160"/>
            <a:ext cx="146304" cy="146304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Reports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 |  The bank for a changing world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10972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@ Publication Desk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daily PnL workflow from control checks to senior management reporting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572768" cy="2560320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43560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356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PNL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Checks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11096" y="2359152"/>
            <a:ext cx="128016" cy="310896"/>
          </a:xfrm>
          <a:prstGeom prst="chevron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234440"/>
            <a:ext cx="1572768" cy="2560320"/>
          </a:xfrm>
          <a:prstGeom prst="rect">
            <a:avLst/>
          </a:prstGeom>
          <a:solidFill>
            <a:srgbClr val="007A45"/>
          </a:solidFill>
          <a:ln w="12700">
            <a:solidFill>
              <a:srgbClr val="007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78024" y="143560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4356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30552" y="2286000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PNL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0168" y="2359152"/>
            <a:ext cx="128016" cy="310896"/>
          </a:xfrm>
          <a:prstGeom prst="chevron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1234440"/>
            <a:ext cx="1572768" cy="2560320"/>
          </a:xfrm>
          <a:prstGeom prst="rect">
            <a:avLst/>
          </a:prstGeom>
          <a:solidFill>
            <a:srgbClr val="005E38"/>
          </a:solidFill>
          <a:ln w="12700">
            <a:solidFill>
              <a:srgbClr val="005E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97096" y="143560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7096" y="14356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9624" y="2286000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Monitoring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(JV Calc · Trading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Eco Vs Pub)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2359152"/>
            <a:ext cx="128016" cy="310896"/>
          </a:xfrm>
          <a:prstGeom prst="chevron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77256" y="1234440"/>
            <a:ext cx="1572768" cy="256032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16168" y="143560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4356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68696" y="2286000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68312" y="2359152"/>
            <a:ext cx="128016" cy="310896"/>
          </a:xfrm>
          <a:prstGeom prst="chevron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234440"/>
            <a:ext cx="1572768" cy="25603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43560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4356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87768" y="2286000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PnL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· COO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Mgmt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503920" cy="502920"/>
          </a:xfrm>
          <a:prstGeom prst="rect">
            <a:avLst/>
          </a:prstGeom>
          <a:solidFill>
            <a:srgbClr val="0A2A1A"/>
          </a:solidFill>
          <a:ln w="9525">
            <a:solidFill>
              <a:srgbClr val="0062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daily cycle ensures accurate, validated PnL data reaches all stakeholders — from the trading floor to the C-suite.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6234"/>
          </a:solidFill>
          <a:ln w="12700">
            <a:solidFill>
              <a:srgbClr val="0062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 |  The bank for a changing world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0972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Xtarget &amp; Publication Overview</dc:title>
  <dc:subject>PptxGenJS Presentation</dc:subject>
  <dc:creator>PptxGenJS</dc:creator>
  <cp:lastModifiedBy>PptxGenJS</cp:lastModifiedBy>
  <cp:revision>1</cp:revision>
  <dcterms:created xsi:type="dcterms:W3CDTF">2026-04-13T11:58:30Z</dcterms:created>
  <dcterms:modified xsi:type="dcterms:W3CDTF">2026-04-13T11:58:30Z</dcterms:modified>
</cp:coreProperties>
</file>